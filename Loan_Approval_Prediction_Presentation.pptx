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66" r:id="rId4"/>
    <p:sldId id="257" r:id="rId5"/>
    <p:sldId id="263" r:id="rId6"/>
    <p:sldId id="276" r:id="rId7"/>
    <p:sldId id="258" r:id="rId8"/>
    <p:sldId id="259" r:id="rId9"/>
    <p:sldId id="268" r:id="rId10"/>
    <p:sldId id="272" r:id="rId11"/>
    <p:sldId id="278" r:id="rId12"/>
    <p:sldId id="262" r:id="rId13"/>
    <p:sldId id="27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82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6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4CB5B2-C979-4A55-AA38-085DF735B79D}" type="doc">
      <dgm:prSet loTypeId="urn:microsoft.com/office/officeart/2018/2/layout/IconVerticalSolidList" loCatId="icon" qsTypeId="urn:microsoft.com/office/officeart/2005/8/quickstyle/simple1#17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5987A0B7-9E50-4BD7-BF12-C8A79BAE81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Predict loan approval using the Random Forest algorithm</a:t>
          </a:r>
        </a:p>
      </dgm:t>
    </dgm:pt>
    <dgm:pt modelId="{C7C896E1-F836-4723-9BD0-0DF78AF9CE1B}" type="parTrans" cxnId="{31FB3AF7-473C-4AB6-B31B-2119928B5EF9}">
      <dgm:prSet/>
      <dgm:spPr/>
      <dgm:t>
        <a:bodyPr/>
        <a:lstStyle/>
        <a:p>
          <a:endParaRPr lang="en-US"/>
        </a:p>
      </dgm:t>
    </dgm:pt>
    <dgm:pt modelId="{7B458E85-0E17-4770-82CB-DCD53A1E3D87}" type="sibTrans" cxnId="{31FB3AF7-473C-4AB6-B31B-2119928B5EF9}">
      <dgm:prSet/>
      <dgm:spPr/>
      <dgm:t>
        <a:bodyPr/>
        <a:lstStyle/>
        <a:p>
          <a:endParaRPr lang="en-US"/>
        </a:p>
      </dgm:t>
    </dgm:pt>
    <dgm:pt modelId="{1901E877-108D-40A4-A3F9-9CEEF439F81C}" type="pres">
      <dgm:prSet presAssocID="{A74CB5B2-C979-4A55-AA38-085DF735B79D}" presName="root" presStyleCnt="0">
        <dgm:presLayoutVars>
          <dgm:dir/>
          <dgm:resizeHandles val="exact"/>
        </dgm:presLayoutVars>
      </dgm:prSet>
      <dgm:spPr/>
    </dgm:pt>
    <dgm:pt modelId="{E5259B8E-71EE-4024-BE9A-A40E269B8ACA}" type="pres">
      <dgm:prSet presAssocID="{5987A0B7-9E50-4BD7-BF12-C8A79BAE819C}" presName="compNode" presStyleCnt="0"/>
      <dgm:spPr/>
    </dgm:pt>
    <dgm:pt modelId="{2D4A2271-9A41-413E-98FD-CFF5E062DDFD}" type="pres">
      <dgm:prSet presAssocID="{5987A0B7-9E50-4BD7-BF12-C8A79BAE819C}" presName="bgRect" presStyleLbl="bgShp" presStyleIdx="0" presStyleCnt="1"/>
      <dgm:spPr/>
    </dgm:pt>
    <dgm:pt modelId="{9CF69031-AF81-48F8-A760-CC0B8C7087FF}" type="pres">
      <dgm:prSet presAssocID="{5987A0B7-9E50-4BD7-BF12-C8A79BAE819C}" presName="iconRect" presStyleLbl="node1" presStyleIdx="0" presStyleCnt="1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BDE5A29-3259-4579-96F1-2695000153FC}" type="pres">
      <dgm:prSet presAssocID="{5987A0B7-9E50-4BD7-BF12-C8A79BAE819C}" presName="spaceRect" presStyleCnt="0"/>
      <dgm:spPr/>
    </dgm:pt>
    <dgm:pt modelId="{517D99CF-21DA-4851-98BF-7EE964BBE026}" type="pres">
      <dgm:prSet presAssocID="{5987A0B7-9E50-4BD7-BF12-C8A79BAE819C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FDCC6AA3-FA59-44D6-A323-FC845CCBB582}" type="presOf" srcId="{5987A0B7-9E50-4BD7-BF12-C8A79BAE819C}" destId="{517D99CF-21DA-4851-98BF-7EE964BBE026}" srcOrd="0" destOrd="0" presId="urn:microsoft.com/office/officeart/2018/2/layout/IconVerticalSolidList"/>
    <dgm:cxn modelId="{31FB3AF7-473C-4AB6-B31B-2119928B5EF9}" srcId="{A74CB5B2-C979-4A55-AA38-085DF735B79D}" destId="{5987A0B7-9E50-4BD7-BF12-C8A79BAE819C}" srcOrd="0" destOrd="0" parTransId="{C7C896E1-F836-4723-9BD0-0DF78AF9CE1B}" sibTransId="{7B458E85-0E17-4770-82CB-DCD53A1E3D87}"/>
    <dgm:cxn modelId="{C575EAFB-979F-4468-894E-DF65F22F6366}" type="presOf" srcId="{A74CB5B2-C979-4A55-AA38-085DF735B79D}" destId="{1901E877-108D-40A4-A3F9-9CEEF439F81C}" srcOrd="0" destOrd="0" presId="urn:microsoft.com/office/officeart/2018/2/layout/IconVerticalSolidList"/>
    <dgm:cxn modelId="{123869C3-8568-455B-9E6F-183C40117FDA}" type="presParOf" srcId="{1901E877-108D-40A4-A3F9-9CEEF439F81C}" destId="{E5259B8E-71EE-4024-BE9A-A40E269B8ACA}" srcOrd="0" destOrd="0" presId="urn:microsoft.com/office/officeart/2018/2/layout/IconVerticalSolidList"/>
    <dgm:cxn modelId="{22BFC0EA-717B-4386-98FD-B264009A8513}" type="presParOf" srcId="{E5259B8E-71EE-4024-BE9A-A40E269B8ACA}" destId="{2D4A2271-9A41-413E-98FD-CFF5E062DDFD}" srcOrd="0" destOrd="0" presId="urn:microsoft.com/office/officeart/2018/2/layout/IconVerticalSolidList"/>
    <dgm:cxn modelId="{79AC2A7B-FB3D-4136-8FD3-1875FC2BEC9D}" type="presParOf" srcId="{E5259B8E-71EE-4024-BE9A-A40E269B8ACA}" destId="{9CF69031-AF81-48F8-A760-CC0B8C7087FF}" srcOrd="1" destOrd="0" presId="urn:microsoft.com/office/officeart/2018/2/layout/IconVerticalSolidList"/>
    <dgm:cxn modelId="{6E18B050-FB0F-4057-957F-D95B87C7766F}" type="presParOf" srcId="{E5259B8E-71EE-4024-BE9A-A40E269B8ACA}" destId="{9BDE5A29-3259-4579-96F1-2695000153FC}" srcOrd="2" destOrd="0" presId="urn:microsoft.com/office/officeart/2018/2/layout/IconVerticalSolidList"/>
    <dgm:cxn modelId="{7B412B05-FACA-4B50-BECC-AD3EDFD9FDFD}" type="presParOf" srcId="{E5259B8E-71EE-4024-BE9A-A40E269B8ACA}" destId="{517D99CF-21DA-4851-98BF-7EE964BBE02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4A2271-9A41-413E-98FD-CFF5E062DDFD}">
      <dsp:nvSpPr>
        <dsp:cNvPr id="0" name=""/>
        <dsp:cNvSpPr/>
      </dsp:nvSpPr>
      <dsp:spPr>
        <a:xfrm>
          <a:off x="0" y="1444577"/>
          <a:ext cx="4395818" cy="123820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F69031-AF81-48F8-A760-CC0B8C7087FF}">
      <dsp:nvSpPr>
        <dsp:cNvPr id="0" name=""/>
        <dsp:cNvSpPr/>
      </dsp:nvSpPr>
      <dsp:spPr>
        <a:xfrm>
          <a:off x="374558" y="1723174"/>
          <a:ext cx="681014" cy="6810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D99CF-21DA-4851-98BF-7EE964BBE026}">
      <dsp:nvSpPr>
        <dsp:cNvPr id="0" name=""/>
        <dsp:cNvSpPr/>
      </dsp:nvSpPr>
      <dsp:spPr>
        <a:xfrm>
          <a:off x="1430131" y="1444577"/>
          <a:ext cx="2965686" cy="12382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44" tIns="131044" rIns="131044" bIns="13104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Predict loan approval using the Random Forest algorithm</a:t>
          </a:r>
        </a:p>
      </dsp:txBody>
      <dsp:txXfrm>
        <a:off x="1430131" y="1444577"/>
        <a:ext cx="2965686" cy="12382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21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web system that predicts whether a loan will be approved, built as a BCA final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2B645-3FF9-3B50-81FB-6AA5C683E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A01F04-4DAA-6910-BA49-3A6CC1B106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DB9C58-01FC-A61C-35D3-3A8DE025B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loan assessment is slow and subjective. We built a tool that gives applicants and officers a quick, data-driven prediction.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F51E1-F3F2-9FF0-4BD6-BE7B0C14E6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8597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loan assessment is slow and subjective. We built a tool that gives applicants and officers a quick, data-driven prediction.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DCC3F-79A6-C4EB-E6E3-F5276AA4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9F08D6-0B2D-422A-D69B-E06C8959A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2EC071-9CD7-BF9C-6A41-26F9A2B3AF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loan assessment is slow and subjective. We built a tool that gives applicants and officers a quick, data-driven prediction.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CF564-7B11-D5D7-09D1-57A9EE2C7B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218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flows left to right. The model is built in Python and exposed through Flask; the web app talks to it via the Node.js backend. Development followed the waterfall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roles: applicants predict their own loan outcome; admins manage content and monitor predictions.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6C6DD-D0EE-F430-BBD7-F259F9A9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16EB4-B21E-1512-84A4-B31FDC73A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91F78-7492-50A6-775F-7785A61744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roles: applicants predict their own loan outcome; admins manage content and monitor predictions.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1D935-7EA1-601E-34AA-83B9490146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841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the system meets its objectives. Thank the audience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EA33B-68A3-112A-481D-7C68A1502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806F6-2700-FBA9-EF3B-1697E3205B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6D1E67-F8DA-2839-CBD0-31C8B2AF6D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the system meets its objectives. Thank the audience and invite questions.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F41F0-E55C-F741-B97D-751A2E4597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355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640" y="2743200"/>
            <a:ext cx="5303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Loan Approval Prediction System</a:t>
            </a:r>
            <a:endParaRPr lang="en-US" sz="4000" dirty="0"/>
          </a:p>
        </p:txBody>
      </p:sp>
      <p:sp>
        <p:nvSpPr>
          <p:cNvPr id="4" name="Authors"/>
          <p:cNvSpPr txBox="1"/>
          <p:nvPr/>
        </p:nvSpPr>
        <p:spPr>
          <a:xfrm>
            <a:off x="548640" y="38404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Elizabeth Subba  |  Sneha Shrestha</a:t>
            </a:r>
            <a:endParaRPr lang="en-US" sz="1400" dirty="0"/>
          </a:p>
          <a:p>
            <a:r>
              <a:rPr lang="en-US" sz="1400" dirty="0">
                <a:solidFill>
                  <a:schemeClr val="bg2"/>
                </a:solidFill>
              </a:rPr>
              <a:t>BCA 8</a:t>
            </a:r>
            <a:r>
              <a:rPr lang="en-US" sz="1400" baseline="30000" dirty="0">
                <a:solidFill>
                  <a:schemeClr val="bg2"/>
                </a:solidFill>
              </a:rPr>
              <a:t>th</a:t>
            </a:r>
            <a:r>
              <a:rPr lang="en-US" sz="1400" dirty="0">
                <a:solidFill>
                  <a:schemeClr val="bg2"/>
                </a:solidFill>
              </a:rPr>
              <a:t> Sem, Xavier International </a:t>
            </a:r>
            <a:r>
              <a:rPr lang="en-US" sz="1400">
                <a:solidFill>
                  <a:schemeClr val="bg2"/>
                </a:solidFill>
              </a:rPr>
              <a:t>College  |</a:t>
            </a:r>
            <a:endParaRPr lang="en-US" sz="1400" dirty="0"/>
          </a:p>
        </p:txBody>
      </p:sp>
      <p:sp>
        <p:nvSpPr>
          <p:cNvPr id="5" name="Hero circle"/>
          <p:cNvSpPr/>
          <p:nvPr/>
        </p:nvSpPr>
        <p:spPr>
          <a:xfrm>
            <a:off x="6309360" y="1280160"/>
            <a:ext cx="2377440" cy="237744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Hero icon" descr="Bank building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19659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24C2E-DC8E-A1C1-A4BE-297BC0A41C06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2923082" y="364261"/>
            <a:ext cx="3297836" cy="731520"/>
          </a:xfrm>
        </p:spPr>
        <p:txBody>
          <a:bodyPr/>
          <a:lstStyle/>
          <a:p>
            <a:r>
              <a:rPr lang="en-US"/>
              <a:t>Table of Content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A09B00-B4A9-5095-3959-AA32A71E9BBA}"/>
              </a:ext>
            </a:extLst>
          </p:cNvPr>
          <p:cNvSpPr txBox="1"/>
          <p:nvPr/>
        </p:nvSpPr>
        <p:spPr>
          <a:xfrm>
            <a:off x="884419" y="1660083"/>
            <a:ext cx="278067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Introduction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Problem Statement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Objectives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r>
              <a:rPr lang="en-US"/>
              <a:t> Algorithm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079B85-6C49-3367-9FED-117D52CE0BD0}"/>
              </a:ext>
            </a:extLst>
          </p:cNvPr>
          <p:cNvSpPr txBox="1"/>
          <p:nvPr/>
        </p:nvSpPr>
        <p:spPr>
          <a:xfrm>
            <a:off x="4572000" y="1382765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r>
              <a:rPr lang="en-US" sz="1800"/>
              <a:t>5. Tools Used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r>
              <a:rPr lang="en-US" sz="1800"/>
              <a:t>6.  Key Features</a:t>
            </a:r>
          </a:p>
          <a:p>
            <a:pPr marL="342900" indent="-342900">
              <a:buFont typeface="+mj-lt"/>
              <a:buAutoNum type="arabicPeriod"/>
            </a:pPr>
            <a:endParaRPr lang="en-US" sz="1800"/>
          </a:p>
          <a:p>
            <a:r>
              <a:rPr lang="en-US" sz="1800"/>
              <a:t>7.  Diagrams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904061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DD6AB5-0272-812A-54FE-FEFF73A2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ABE3E7E-98CF-E523-B80B-CF6B675DB3F3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350041" y="1860821"/>
            <a:ext cx="2401025" cy="86715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</a:pP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</a:t>
            </a:r>
            <a:endParaRPr lang="en-US" sz="28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he problem list">
            <a:extLst>
              <a:ext uri="{FF2B5EF4-FFF2-40B4-BE49-F238E27FC236}">
                <a16:creationId xmlns:a16="http://schemas.microsoft.com/office/drawing/2014/main" id="{D706F76D-CB9C-B63F-F2FE-C4C902DDD14C}"/>
              </a:ext>
            </a:extLst>
          </p:cNvPr>
          <p:cNvSpPr txBox="1"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The Loan Approval Prediction System is a machine learning-based application that predicts whether a loan application is likely to be approved or rejected. It analyzes applicant details such as income, credit history, and loan amount using a trained machine learning model. The system helps make the loan evaluation process faster, easier, and more efficient.</a:t>
            </a: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5DFB02B-B919-C4B3-9C3D-3D724F99DE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78240" y="4841748"/>
            <a:ext cx="336042" cy="273843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>
              <a:spcAft>
                <a:spcPts val="600"/>
              </a:spcAft>
            </a:pPr>
            <a:fld id="{F7021451-1387-4CA6-816F-3879F97B5CBC}" type="slidenum">
              <a:rPr lang="en-US" sz="800" b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3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9302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50041" y="440141"/>
            <a:ext cx="2401025" cy="25406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</a:pPr>
            <a:r>
              <a:rPr lang="en-US" sz="3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Problem Statement</a:t>
            </a:r>
            <a:endParaRPr lang="en-US" sz="3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he problem list"/>
          <p:cNvSpPr txBox="1"/>
          <p:nvPr/>
        </p:nvSpPr>
        <p:spPr>
          <a:xfrm>
            <a:off x="3607694" y="487110"/>
            <a:ext cx="4916510" cy="41595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Loan officers assess applications by hand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Slow, subjective and inconsistent decisions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Risk of approving applicants who default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500"/>
              <a:t>In Nepal, no platform lets people check eligibility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778240" y="4841748"/>
            <a:ext cx="336042" cy="273843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>
              <a:spcAft>
                <a:spcPts val="600"/>
              </a:spcAft>
            </a:pPr>
            <a:fld id="{F7021451-1387-4CA6-816F-3879F97B5CBC}" type="slidenum">
              <a:rPr lang="en-US" sz="800" b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4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CBE011-196E-178B-F579-3F89751CEB8E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942391" y="443871"/>
            <a:ext cx="2954766" cy="418734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Objectives</a:t>
            </a:r>
            <a:b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36917" y="267609"/>
            <a:ext cx="0" cy="486965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4833" y="443871"/>
            <a:ext cx="104279" cy="104280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43918" y="615843"/>
            <a:ext cx="68353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63178" y="1002201"/>
            <a:ext cx="95785" cy="95785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23" name="TextBox 2">
            <a:extLst>
              <a:ext uri="{FF2B5EF4-FFF2-40B4-BE49-F238E27FC236}">
                <a16:creationId xmlns:a16="http://schemas.microsoft.com/office/drawing/2014/main" id="{877C90D8-DECC-36AF-E497-68F9463F70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0411980"/>
              </p:ext>
            </p:extLst>
          </p:nvPr>
        </p:nvGraphicFramePr>
        <p:xfrm>
          <a:off x="4119532" y="503853"/>
          <a:ext cx="4395818" cy="4127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87215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6B1BCA-30E2-866C-BD60-E9163CD02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0E7DEC4-F7D1-A989-F1B9-925230E70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3B8A8B0D-A545-32E0-3EB0-0EB46B8CD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2614FA-468C-1FC0-80EC-BE6EC181A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C2A74AC-11E8-C78F-D04E-A1F3B7CBCE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4762688-F7B0-E043-6D21-73C24404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895C903E-4804-6B65-0884-4F434191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02F86AB-67F0-E7E6-1A94-8A5D9F87E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0" y="1049957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8967D75-352C-5004-EDA8-9210DA59340E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313668" y="1998966"/>
            <a:ext cx="2401025" cy="659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2800" dirty="0">
                <a:solidFill>
                  <a:schemeClr val="bg1"/>
                </a:solidFill>
              </a:rPr>
              <a:t>Algorithm</a:t>
            </a:r>
            <a:endParaRPr lang="en-US" sz="30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he problem list">
            <a:extLst>
              <a:ext uri="{FF2B5EF4-FFF2-40B4-BE49-F238E27FC236}">
                <a16:creationId xmlns:a16="http://schemas.microsoft.com/office/drawing/2014/main" id="{36649E4A-3913-EB3A-ED62-76FA359F5A04}"/>
              </a:ext>
            </a:extLst>
          </p:cNvPr>
          <p:cNvSpPr txBox="1"/>
          <p:nvPr/>
        </p:nvSpPr>
        <p:spPr>
          <a:xfrm>
            <a:off x="3607694" y="1720748"/>
            <a:ext cx="4916510" cy="18756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z="1400" dirty="0"/>
              <a:t>Random Forest is a machine learning algorithm that uses multiple decision trees to make predictions. </a:t>
            </a:r>
          </a:p>
          <a:p>
            <a:pPr lvl="0"/>
            <a:r>
              <a:rPr lang="en-US" sz="1400" dirty="0"/>
              <a:t>It combines the results of many trees to improve accuracy and reliability. </a:t>
            </a:r>
          </a:p>
          <a:p>
            <a:pPr lvl="0"/>
            <a:r>
              <a:rPr lang="en-US" sz="1400" dirty="0"/>
              <a:t>It reduces overfitting compared to a single decision tree. </a:t>
            </a:r>
          </a:p>
          <a:p>
            <a:pPr lvl="0"/>
            <a:r>
              <a:rPr lang="en-US" sz="1400" dirty="0"/>
              <a:t>In our project, it is used to predict whether a loan will be approved or rejected based on applicant information.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  <a:buSzPct val="100000"/>
            </a:pPr>
            <a:endParaRPr lang="en-US" sz="15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41526E2-A0BB-1F97-6299-597D4CCAAB5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778240" y="4841748"/>
            <a:ext cx="336042" cy="273843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vert="horz" lIns="91440" tIns="45720" rIns="91440" bIns="45720" rtlCol="0" anchor="ctr">
            <a:normAutofit/>
          </a:bodyPr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>
              <a:spcAft>
                <a:spcPts val="600"/>
              </a:spcAft>
            </a:pPr>
            <a:fld id="{F7021451-1387-4CA6-816F-3879F97B5CBC}" type="slidenum">
              <a:rPr lang="en-US" sz="800" b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>
                <a:spcAft>
                  <a:spcPts val="600"/>
                </a:spcAft>
              </a:pPr>
              <a:t>6</a:t>
            </a:fld>
            <a:endParaRPr lang="en-US" sz="8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Step title Random Forest">
            <a:extLst>
              <a:ext uri="{FF2B5EF4-FFF2-40B4-BE49-F238E27FC236}">
                <a16:creationId xmlns:a16="http://schemas.microsoft.com/office/drawing/2014/main" id="{DE6D6287-3777-F534-E113-ECCAF1F485D8}"/>
              </a:ext>
            </a:extLst>
          </p:cNvPr>
          <p:cNvSpPr txBox="1"/>
          <p:nvPr/>
        </p:nvSpPr>
        <p:spPr>
          <a:xfrm>
            <a:off x="4271822" y="1060554"/>
            <a:ext cx="26923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Random Forest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65329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275651" y="64008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/>
              <a:t>Tools Used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FD2500F-09E1-6D10-79F0-E6B0B881AC9C}"/>
              </a:ext>
            </a:extLst>
          </p:cNvPr>
          <p:cNvGrpSpPr/>
          <p:nvPr/>
        </p:nvGrpSpPr>
        <p:grpSpPr>
          <a:xfrm>
            <a:off x="1783080" y="1611630"/>
            <a:ext cx="3383280" cy="2194560"/>
            <a:chOff x="5303520" y="1280160"/>
            <a:chExt cx="3383280" cy="2194560"/>
          </a:xfrm>
        </p:grpSpPr>
        <p:sp>
          <p:nvSpPr>
            <p:cNvPr id="21" name="Step card Node.js + MySQL"/>
            <p:cNvSpPr/>
            <p:nvPr/>
          </p:nvSpPr>
          <p:spPr>
            <a:xfrm>
              <a:off x="5532120" y="1280160"/>
              <a:ext cx="1463040" cy="2194560"/>
            </a:xfrm>
            <a:prstGeom prst="roundRect">
              <a:avLst>
                <a:gd name="adj" fmla="val 6250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Node.js + MySQL circle"/>
            <p:cNvSpPr/>
            <p:nvPr/>
          </p:nvSpPr>
          <p:spPr>
            <a:xfrm>
              <a:off x="5943600" y="1463040"/>
              <a:ext cx="640080" cy="6400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3" name="Node.js + MySQL icon" descr="Node.js + MySQL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3620" y="1623060"/>
              <a:ext cx="320040" cy="320040"/>
            </a:xfrm>
            <a:prstGeom prst="rect">
              <a:avLst/>
            </a:prstGeom>
          </p:spPr>
        </p:pic>
        <p:sp>
          <p:nvSpPr>
            <p:cNvPr id="27" name="Step card Next.js"/>
            <p:cNvSpPr/>
            <p:nvPr/>
          </p:nvSpPr>
          <p:spPr>
            <a:xfrm>
              <a:off x="7223760" y="1280160"/>
              <a:ext cx="1463040" cy="2194560"/>
            </a:xfrm>
            <a:prstGeom prst="roundRect">
              <a:avLst>
                <a:gd name="adj" fmla="val 6250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Next.js circle"/>
            <p:cNvSpPr/>
            <p:nvPr/>
          </p:nvSpPr>
          <p:spPr>
            <a:xfrm>
              <a:off x="7635240" y="1463040"/>
              <a:ext cx="640080" cy="6400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9" name="Next.js icon" descr="Next.js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95260" y="1623060"/>
              <a:ext cx="320040" cy="320040"/>
            </a:xfrm>
            <a:prstGeom prst="rect">
              <a:avLst/>
            </a:prstGeom>
          </p:spPr>
        </p:pic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EBF91479-0666-6AB5-2EC9-2F30669631B9}"/>
                </a:ext>
              </a:extLst>
            </p:cNvPr>
            <p:cNvGrpSpPr/>
            <p:nvPr/>
          </p:nvGrpSpPr>
          <p:grpSpPr>
            <a:xfrm>
              <a:off x="5303520" y="2194560"/>
              <a:ext cx="3310128" cy="1188720"/>
              <a:chOff x="5303520" y="2194560"/>
              <a:chExt cx="3310128" cy="1188720"/>
            </a:xfrm>
          </p:grpSpPr>
          <p:sp>
            <p:nvSpPr>
              <p:cNvPr id="20" name="Arrow 3"/>
              <p:cNvSpPr txBox="1"/>
              <p:nvPr/>
            </p:nvSpPr>
            <p:spPr>
              <a:xfrm>
                <a:off x="5303520" y="2194560"/>
                <a:ext cx="22860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chemeClr val="accent2"/>
                    </a:solidFill>
                  </a:rPr>
                  <a:t>▶</a:t>
                </a:r>
                <a:endParaRPr lang="en-US" sz="1100" dirty="0"/>
              </a:p>
            </p:txBody>
          </p:sp>
          <p:sp>
            <p:nvSpPr>
              <p:cNvPr id="24" name="Step title Node.js + MySQL"/>
              <p:cNvSpPr txBox="1"/>
              <p:nvPr/>
            </p:nvSpPr>
            <p:spPr>
              <a:xfrm>
                <a:off x="5605272" y="2194560"/>
                <a:ext cx="1316736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tx2"/>
                    </a:solidFill>
                  </a:rPr>
                  <a:t>Node.js + MySQL</a:t>
                </a:r>
                <a:endParaRPr lang="en-US" sz="1400" dirty="0"/>
              </a:p>
            </p:txBody>
          </p:sp>
          <p:sp>
            <p:nvSpPr>
              <p:cNvPr id="25" name="Step caption Node.js + MySQL"/>
              <p:cNvSpPr txBox="1"/>
              <p:nvPr/>
            </p:nvSpPr>
            <p:spPr>
              <a:xfrm>
                <a:off x="5623560" y="2606040"/>
                <a:ext cx="1280160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chemeClr val="tx1"/>
                    </a:solidFill>
                  </a:rPr>
                  <a:t>Backend logic and data storage</a:t>
                </a:r>
                <a:endParaRPr lang="en-US" sz="1100" dirty="0"/>
              </a:p>
            </p:txBody>
          </p:sp>
          <p:sp>
            <p:nvSpPr>
              <p:cNvPr id="26" name="Arrow 4"/>
              <p:cNvSpPr txBox="1"/>
              <p:nvPr/>
            </p:nvSpPr>
            <p:spPr>
              <a:xfrm>
                <a:off x="6995160" y="2194560"/>
                <a:ext cx="22860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chemeClr val="accent2"/>
                    </a:solidFill>
                  </a:rPr>
                  <a:t>▶</a:t>
                </a:r>
                <a:endParaRPr lang="en-US" sz="1100" dirty="0"/>
              </a:p>
            </p:txBody>
          </p:sp>
          <p:sp>
            <p:nvSpPr>
              <p:cNvPr id="30" name="Step title Next.js"/>
              <p:cNvSpPr txBox="1"/>
              <p:nvPr/>
            </p:nvSpPr>
            <p:spPr>
              <a:xfrm>
                <a:off x="7296912" y="2194560"/>
                <a:ext cx="1316736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tx2"/>
                    </a:solidFill>
                  </a:rPr>
                  <a:t>Next.js</a:t>
                </a:r>
                <a:endParaRPr lang="en-US" sz="1400" dirty="0"/>
              </a:p>
            </p:txBody>
          </p:sp>
          <p:sp>
            <p:nvSpPr>
              <p:cNvPr id="31" name="Step caption Next.js"/>
              <p:cNvSpPr txBox="1"/>
              <p:nvPr/>
            </p:nvSpPr>
            <p:spPr>
              <a:xfrm>
                <a:off x="7315200" y="2606040"/>
                <a:ext cx="1280160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chemeClr val="tx1"/>
                    </a:solidFill>
                  </a:rPr>
                  <a:t>Web interface for users and admin</a:t>
                </a:r>
                <a:endParaRPr lang="en-US" sz="1100" dirty="0"/>
              </a:p>
            </p:txBody>
          </p:sp>
        </p:grpSp>
      </p:grp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B004569-7B3B-82A0-941A-43C21323BBC1}"/>
              </a:ext>
            </a:extLst>
          </p:cNvPr>
          <p:cNvGrpSpPr/>
          <p:nvPr/>
        </p:nvGrpSpPr>
        <p:grpSpPr>
          <a:xfrm>
            <a:off x="5326380" y="1611630"/>
            <a:ext cx="1920240" cy="2194560"/>
            <a:chOff x="5303520" y="1280160"/>
            <a:chExt cx="1920240" cy="2194560"/>
          </a:xfrm>
        </p:grpSpPr>
        <p:sp>
          <p:nvSpPr>
            <p:cNvPr id="38" name="Step card Node.js + MySQL">
              <a:extLst>
                <a:ext uri="{FF2B5EF4-FFF2-40B4-BE49-F238E27FC236}">
                  <a16:creationId xmlns:a16="http://schemas.microsoft.com/office/drawing/2014/main" id="{5D79AB3C-6B85-2F53-BC08-8432A815DD22}"/>
                </a:ext>
              </a:extLst>
            </p:cNvPr>
            <p:cNvSpPr/>
            <p:nvPr/>
          </p:nvSpPr>
          <p:spPr>
            <a:xfrm>
              <a:off x="5532120" y="1280160"/>
              <a:ext cx="1463040" cy="2194560"/>
            </a:xfrm>
            <a:prstGeom prst="roundRect">
              <a:avLst>
                <a:gd name="adj" fmla="val 6250"/>
              </a:avLst>
            </a:prstGeom>
            <a:solidFill>
              <a:schemeClr val="bg2"/>
            </a:solidFill>
            <a:ln w="12700">
              <a:solidFill>
                <a:schemeClr val="bg2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Node.js + MySQL circle">
              <a:extLst>
                <a:ext uri="{FF2B5EF4-FFF2-40B4-BE49-F238E27FC236}">
                  <a16:creationId xmlns:a16="http://schemas.microsoft.com/office/drawing/2014/main" id="{12E50038-5DDD-3DB0-B983-DF158E46C40E}"/>
                </a:ext>
              </a:extLst>
            </p:cNvPr>
            <p:cNvSpPr/>
            <p:nvPr/>
          </p:nvSpPr>
          <p:spPr>
            <a:xfrm>
              <a:off x="5943600" y="1463040"/>
              <a:ext cx="640080" cy="640080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accent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40" name="Node.js + MySQL icon" descr="Node.js + MySQL">
              <a:extLst>
                <a:ext uri="{FF2B5EF4-FFF2-40B4-BE49-F238E27FC236}">
                  <a16:creationId xmlns:a16="http://schemas.microsoft.com/office/drawing/2014/main" id="{26A53641-2F42-A12C-69AC-48851F93DC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3620" y="1623060"/>
              <a:ext cx="320040" cy="320040"/>
            </a:xfrm>
            <a:prstGeom prst="rect">
              <a:avLst/>
            </a:prstGeom>
          </p:spPr>
        </p:pic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CDA9166A-D792-FB63-A5EB-B038D3EED7FB}"/>
                </a:ext>
              </a:extLst>
            </p:cNvPr>
            <p:cNvGrpSpPr/>
            <p:nvPr/>
          </p:nvGrpSpPr>
          <p:grpSpPr>
            <a:xfrm>
              <a:off x="5303520" y="2194560"/>
              <a:ext cx="1920240" cy="1188720"/>
              <a:chOff x="5303520" y="2194560"/>
              <a:chExt cx="1920240" cy="1188720"/>
            </a:xfrm>
          </p:grpSpPr>
          <p:sp>
            <p:nvSpPr>
              <p:cNvPr id="45" name="Arrow 3">
                <a:extLst>
                  <a:ext uri="{FF2B5EF4-FFF2-40B4-BE49-F238E27FC236}">
                    <a16:creationId xmlns:a16="http://schemas.microsoft.com/office/drawing/2014/main" id="{BC1421B3-FBF1-848E-705C-BEBB861F718A}"/>
                  </a:ext>
                </a:extLst>
              </p:cNvPr>
              <p:cNvSpPr txBox="1"/>
              <p:nvPr/>
            </p:nvSpPr>
            <p:spPr>
              <a:xfrm>
                <a:off x="5303520" y="2194560"/>
                <a:ext cx="22860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chemeClr val="accent2"/>
                    </a:solidFill>
                  </a:rPr>
                  <a:t>▶</a:t>
                </a:r>
                <a:endParaRPr lang="en-US" sz="1100" dirty="0"/>
              </a:p>
            </p:txBody>
          </p:sp>
          <p:sp>
            <p:nvSpPr>
              <p:cNvPr id="46" name="Step title Node.js + MySQL">
                <a:extLst>
                  <a:ext uri="{FF2B5EF4-FFF2-40B4-BE49-F238E27FC236}">
                    <a16:creationId xmlns:a16="http://schemas.microsoft.com/office/drawing/2014/main" id="{1959339E-0CAA-1E7E-98AA-231B8AF2AFCF}"/>
                  </a:ext>
                </a:extLst>
              </p:cNvPr>
              <p:cNvSpPr txBox="1"/>
              <p:nvPr/>
            </p:nvSpPr>
            <p:spPr>
              <a:xfrm>
                <a:off x="5605272" y="2194560"/>
                <a:ext cx="1316736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chemeClr val="tx2"/>
                    </a:solidFill>
                  </a:rPr>
                  <a:t>Python</a:t>
                </a:r>
                <a:endParaRPr lang="en-US" sz="1400" dirty="0"/>
              </a:p>
            </p:txBody>
          </p:sp>
          <p:sp>
            <p:nvSpPr>
              <p:cNvPr id="47" name="Step caption Node.js + MySQL">
                <a:extLst>
                  <a:ext uri="{FF2B5EF4-FFF2-40B4-BE49-F238E27FC236}">
                    <a16:creationId xmlns:a16="http://schemas.microsoft.com/office/drawing/2014/main" id="{5A7E5AFB-3466-708C-98A2-344D995B42CC}"/>
                  </a:ext>
                </a:extLst>
              </p:cNvPr>
              <p:cNvSpPr txBox="1"/>
              <p:nvPr/>
            </p:nvSpPr>
            <p:spPr>
              <a:xfrm>
                <a:off x="5623560" y="2606040"/>
                <a:ext cx="1280160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ctr">
                  <a:buNone/>
                </a:pPr>
                <a:r>
                  <a:rPr lang="en-US" sz="1100" dirty="0">
                    <a:solidFill>
                      <a:schemeClr val="tx1"/>
                    </a:solidFill>
                  </a:rPr>
                  <a:t>Machine learning</a:t>
                </a:r>
                <a:endParaRPr lang="en-US" sz="1100" dirty="0"/>
              </a:p>
            </p:txBody>
          </p:sp>
          <p:sp>
            <p:nvSpPr>
              <p:cNvPr id="48" name="Arrow 4">
                <a:extLst>
                  <a:ext uri="{FF2B5EF4-FFF2-40B4-BE49-F238E27FC236}">
                    <a16:creationId xmlns:a16="http://schemas.microsoft.com/office/drawing/2014/main" id="{545DF6C1-013B-9AEA-D165-49503545D3D0}"/>
                  </a:ext>
                </a:extLst>
              </p:cNvPr>
              <p:cNvSpPr txBox="1"/>
              <p:nvPr/>
            </p:nvSpPr>
            <p:spPr>
              <a:xfrm>
                <a:off x="6995160" y="2194560"/>
                <a:ext cx="228600" cy="365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endParaRPr lang="en-US" sz="1100" dirty="0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066238" y="320040"/>
            <a:ext cx="26457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Card Applicant (User)"/>
          <p:cNvSpPr/>
          <p:nvPr/>
        </p:nvSpPr>
        <p:spPr>
          <a:xfrm>
            <a:off x="45720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Applicant (User) heading"/>
          <p:cNvSpPr txBox="1"/>
          <p:nvPr/>
        </p:nvSpPr>
        <p:spPr>
          <a:xfrm>
            <a:off x="819213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User</a:t>
            </a:r>
            <a:endParaRPr lang="en-US" sz="2000" dirty="0"/>
          </a:p>
        </p:txBody>
      </p:sp>
      <p:sp>
        <p:nvSpPr>
          <p:cNvPr id="7" name="Applicant (User) list"/>
          <p:cNvSpPr txBox="1"/>
          <p:nvPr/>
        </p:nvSpPr>
        <p:spPr>
          <a:xfrm>
            <a:off x="731520" y="233172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Register and log 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Enter details, get Approved or Not Approved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Download a PDF prediction report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 past predictions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Send feedback</a:t>
            </a:r>
            <a:endParaRPr lang="en-US" sz="1400" dirty="0"/>
          </a:p>
        </p:txBody>
      </p:sp>
      <p:sp>
        <p:nvSpPr>
          <p:cNvPr id="8" name="Card Admin"/>
          <p:cNvSpPr/>
          <p:nvPr/>
        </p:nvSpPr>
        <p:spPr>
          <a:xfrm>
            <a:off x="4754880" y="1280160"/>
            <a:ext cx="3931920" cy="3017520"/>
          </a:xfrm>
          <a:prstGeom prst="roundRect">
            <a:avLst>
              <a:gd name="adj" fmla="val 303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Admin heading"/>
          <p:cNvSpPr txBox="1"/>
          <p:nvPr/>
        </p:nvSpPr>
        <p:spPr>
          <a:xfrm>
            <a:off x="5029200" y="150876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Admin</a:t>
            </a:r>
            <a:endParaRPr lang="en-US" sz="2000" dirty="0"/>
          </a:p>
        </p:txBody>
      </p:sp>
      <p:sp>
        <p:nvSpPr>
          <p:cNvPr id="12" name="Admin list"/>
          <p:cNvSpPr txBox="1"/>
          <p:nvPr/>
        </p:nvSpPr>
        <p:spPr>
          <a:xfrm>
            <a:off x="5029200" y="233172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 and download all predictions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Dashboard chart: approved vs rejected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 and manage bank loan details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 blog posts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Review user feedback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80A99-C8B9-A757-BE31-FBE8EBEE1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C233FDE-E6A7-F62D-878F-9D7CD28923C4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3586395" y="258581"/>
            <a:ext cx="197120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chemeClr val="tx2"/>
                </a:solidFill>
              </a:rPr>
              <a:t>Diagrams</a:t>
            </a:r>
            <a:endParaRPr lang="en-US" sz="32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0E241C3E-44E5-12CF-9B54-248B9DE413D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64BFE8-AB06-2BD6-47A7-5ACD69B6C85B}"/>
              </a:ext>
            </a:extLst>
          </p:cNvPr>
          <p:cNvSpPr txBox="1"/>
          <p:nvPr/>
        </p:nvSpPr>
        <p:spPr>
          <a:xfrm>
            <a:off x="1881884" y="4417287"/>
            <a:ext cx="5622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Fig. Waterfall Model of Loan Approval Prediction System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6E72C9-3D0D-8C02-F3CF-3EC658BE6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3162" y="990101"/>
            <a:ext cx="4517675" cy="3341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2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ABDE66-6016-7D61-FE21-BD5058E815C9}"/>
              </a:ext>
            </a:extLst>
          </p:cNvPr>
          <p:cNvSpPr txBox="1"/>
          <p:nvPr/>
        </p:nvSpPr>
        <p:spPr>
          <a:xfrm>
            <a:off x="1850068" y="4445949"/>
            <a:ext cx="5773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Fig. Use Case Diagram of Loan Approval Prediction System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71149-743B-109F-3647-F0DF82FB7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438" y="650139"/>
            <a:ext cx="4137123" cy="3795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877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20100-123C-B495-8471-482AE1C05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15A61C-59F8-8959-46FD-C4498389C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29" y="180873"/>
            <a:ext cx="5048742" cy="42327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6316F0-2951-2587-D094-F4A16C949583}"/>
              </a:ext>
            </a:extLst>
          </p:cNvPr>
          <p:cNvSpPr txBox="1"/>
          <p:nvPr/>
        </p:nvSpPr>
        <p:spPr>
          <a:xfrm>
            <a:off x="1850068" y="4445949"/>
            <a:ext cx="55508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Fig. Object Diagram of Loan Approval  Prediction System</a:t>
            </a:r>
          </a:p>
        </p:txBody>
      </p:sp>
    </p:spTree>
    <p:extLst>
      <p:ext uri="{BB962C8B-B14F-4D97-AF65-F5344CB8AC3E}">
        <p14:creationId xmlns:p14="http://schemas.microsoft.com/office/powerpoint/2010/main" val="2271977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2557693" y="460197"/>
            <a:ext cx="402860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Future Recommendation</a:t>
            </a:r>
            <a:endParaRPr lang="en-US" sz="3200" dirty="0"/>
          </a:p>
        </p:txBody>
      </p:sp>
      <p:sp>
        <p:nvSpPr>
          <p:cNvPr id="7" name="Conclusion list"/>
          <p:cNvSpPr txBox="1"/>
          <p:nvPr/>
        </p:nvSpPr>
        <p:spPr>
          <a:xfrm>
            <a:off x="1595141" y="1609941"/>
            <a:ext cx="5953718" cy="27814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More Data</a:t>
            </a:r>
          </a:p>
          <a:p>
            <a:r>
              <a:rPr lang="en-US" sz="1200" dirty="0">
                <a:solidFill>
                  <a:schemeClr val="bg1"/>
                </a:solidFill>
              </a:rPr>
              <a:t>More historical loan data can be collected and used to improve the prediction performance.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More Features</a:t>
            </a:r>
          </a:p>
          <a:p>
            <a:r>
              <a:rPr lang="en-US" sz="1200" dirty="0">
                <a:solidFill>
                  <a:schemeClr val="bg1"/>
                </a:solidFill>
              </a:rPr>
              <a:t>Additional financial and risk-related factors can be included to make predictions more accurate.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Different Models</a:t>
            </a:r>
          </a:p>
          <a:p>
            <a:r>
              <a:rPr lang="en-US" sz="1200" dirty="0">
                <a:solidFill>
                  <a:schemeClr val="bg1"/>
                </a:solidFill>
              </a:rPr>
              <a:t>Different machine learning models and prediction approaches can be compared to identify the most effective model.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Better Accuracy</a:t>
            </a:r>
          </a:p>
          <a:p>
            <a:r>
              <a:rPr lang="en-US" sz="1200" dirty="0">
                <a:solidFill>
                  <a:schemeClr val="bg1"/>
                </a:solidFill>
              </a:rPr>
              <a:t>The accuracy of the system can be improved through better-quality data, feature selection, and model training.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More Financial Parameters</a:t>
            </a:r>
          </a:p>
          <a:p>
            <a:r>
              <a:rPr lang="en-US" sz="1200" dirty="0">
                <a:solidFill>
                  <a:schemeClr val="bg1"/>
                </a:solidFill>
              </a:rPr>
              <a:t>Along with individual information, additional financial and risk assessment parameters can be included for more reliable loan predictions.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6A4F6-E36F-24F8-BA76-806473436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3BF47098-3349-0190-18B5-227F7AAA620E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3391522" y="1060368"/>
            <a:ext cx="23609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7" name="Conclusion list">
            <a:extLst>
              <a:ext uri="{FF2B5EF4-FFF2-40B4-BE49-F238E27FC236}">
                <a16:creationId xmlns:a16="http://schemas.microsoft.com/office/drawing/2014/main" id="{1CAA1121-3648-75D3-3D34-42859AC88757}"/>
              </a:ext>
            </a:extLst>
          </p:cNvPr>
          <p:cNvSpPr txBox="1"/>
          <p:nvPr/>
        </p:nvSpPr>
        <p:spPr>
          <a:xfrm>
            <a:off x="2142093" y="2230912"/>
            <a:ext cx="4859811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The </a:t>
            </a:r>
            <a:r>
              <a:rPr lang="en-US" sz="1600" b="1" dirty="0">
                <a:solidFill>
                  <a:schemeClr val="bg1"/>
                </a:solidFill>
              </a:rPr>
              <a:t>Loan Approval Prediction System</a:t>
            </a:r>
            <a:r>
              <a:rPr lang="en-US" sz="1600" dirty="0">
                <a:solidFill>
                  <a:schemeClr val="bg1"/>
                </a:solidFill>
              </a:rPr>
              <a:t> helps determine whether a loan application is likely to be approved or rejected based on the applicant’s information. It makes the process </a:t>
            </a:r>
            <a:r>
              <a:rPr lang="en-US" sz="1600" b="1" dirty="0">
                <a:solidFill>
                  <a:schemeClr val="bg1"/>
                </a:solidFill>
              </a:rPr>
              <a:t>faster, easier, and more efficient</a:t>
            </a:r>
            <a:r>
              <a:rPr lang="en-US" sz="1600" dirty="0">
                <a:solidFill>
                  <a:schemeClr val="bg1"/>
                </a:solidFill>
              </a:rPr>
              <a:t>, helping users make better decisions.</a:t>
            </a:r>
          </a:p>
        </p:txBody>
      </p:sp>
      <p:sp>
        <p:nvSpPr>
          <p:cNvPr id="12" name="Future work list">
            <a:extLst>
              <a:ext uri="{FF2B5EF4-FFF2-40B4-BE49-F238E27FC236}">
                <a16:creationId xmlns:a16="http://schemas.microsoft.com/office/drawing/2014/main" id="{63E0CC50-64CE-3DE5-FB35-9DB0D2D02941}"/>
              </a:ext>
            </a:extLst>
          </p:cNvPr>
          <p:cNvSpPr txBox="1"/>
          <p:nvPr/>
        </p:nvSpPr>
        <p:spPr>
          <a:xfrm>
            <a:off x="5029200" y="237744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FF40E23-6152-9CC9-745F-A24112EDD5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754488"/>
      </p:ext>
    </p:extLst>
  </p:cSld>
  <p:clrMapOvr>
    <a:masterClrMapping/>
  </p:clrMapOvr>
</p:sld>
</file>

<file path=ppt/theme/theme1.xml><?xml version="1.0" encoding="utf-8"?>
<a:theme xmlns:a="http://schemas.openxmlformats.org/drawingml/2006/main" name="Loan Prediction">
  <a:themeElements>
    <a:clrScheme name="Loan Prediction">
      <a:dk1>
        <a:srgbClr val="12302B"/>
      </a:dk1>
      <a:lt1>
        <a:srgbClr val="FFFFFF"/>
      </a:lt1>
      <a:dk2>
        <a:srgbClr val="0F5C4D"/>
      </a:dk2>
      <a:lt2>
        <a:srgbClr val="EAF3F0"/>
      </a:lt2>
      <a:accent1>
        <a:srgbClr val="0F5C4D"/>
      </a:accent1>
      <a:accent2>
        <a:srgbClr val="E0A526"/>
      </a:accent2>
      <a:accent3>
        <a:srgbClr val="2A9D8F"/>
      </a:accent3>
      <a:accent4>
        <a:srgbClr val="C8553D"/>
      </a:accent4>
      <a:accent5>
        <a:srgbClr val="6B8F86"/>
      </a:accent5>
      <a:accent6>
        <a:srgbClr val="34495E"/>
      </a:accent6>
      <a:hlink>
        <a:srgbClr val="0F5C4D"/>
      </a:hlink>
      <a:folHlink>
        <a:srgbClr val="6B8F86"/>
      </a:folHlink>
    </a:clrScheme>
    <a:fontScheme name="Loan Predict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660</Words>
  <Application>Microsoft Office PowerPoint</Application>
  <PresentationFormat>On-screen Show (16:9)</PresentationFormat>
  <Paragraphs>105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Loan Prediction</vt:lpstr>
      <vt:lpstr>Loan Approval Prediction System</vt:lpstr>
      <vt:lpstr>Table of Content</vt:lpstr>
      <vt:lpstr>Introduction</vt:lpstr>
      <vt:lpstr> Problem Statement</vt:lpstr>
      <vt:lpstr>Objectives </vt:lpstr>
      <vt:lpstr>Algorithm</vt:lpstr>
      <vt:lpstr>Tools Used</vt:lpstr>
      <vt:lpstr>Key Features</vt:lpstr>
      <vt:lpstr>Diagrams</vt:lpstr>
      <vt:lpstr>PowerPoint Presentation</vt:lpstr>
      <vt:lpstr>PowerPoint Presentation</vt:lpstr>
      <vt:lpstr>Future Recommendation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Approval Prediction System</dc:title>
  <dc:subject>PptxGenJS Presentation</dc:subject>
  <dc:creator>Elizabeth Subba, Sneha Shrestha</dc:creator>
  <cp:lastModifiedBy>ELLIE</cp:lastModifiedBy>
  <cp:revision>10</cp:revision>
  <dcterms:created xsi:type="dcterms:W3CDTF">2026-10-05T17:12:44Z</dcterms:created>
  <dcterms:modified xsi:type="dcterms:W3CDTF">2026-10-12T14:56:35Z</dcterms:modified>
</cp:coreProperties>
</file>